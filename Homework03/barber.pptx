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97" r:id="rId3"/>
    <p:sldId id="298" r:id="rId4"/>
    <p:sldId id="312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C455CA-B494-E949-B5D9-0A6DFBDCE8DD}" type="datetimeFigureOut">
              <a:rPr lang="en-US" smtClean="0"/>
              <a:t>6/18/2021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6C542C-5CA7-514F-BE30-F1159AD19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710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C8DA76-9960-2E43-89E9-8DA570E135AE}" type="slidenum">
              <a:rPr lang="en-US"/>
              <a:pPr/>
              <a:t>2</a:t>
            </a:fld>
            <a:endParaRPr lang="en-US"/>
          </a:p>
        </p:txBody>
      </p:sp>
      <p:sp>
        <p:nvSpPr>
          <p:cNvPr id="512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12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6095750-A1E4-444C-ACE8-439C65A975BC}" type="slidenum">
              <a:rPr lang="en-US"/>
              <a:pPr/>
              <a:t>3</a:t>
            </a:fld>
            <a:endParaRPr lang="en-US"/>
          </a:p>
        </p:txBody>
      </p:sp>
      <p:sp>
        <p:nvSpPr>
          <p:cNvPr id="513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13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1F625-75E9-F24E-B3BB-9B4A61CC6252}" type="datetimeFigureOut">
              <a:rPr lang="en-US" smtClean="0"/>
              <a:t>6/18/2021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5C763-C150-5D46-AD13-E71B03814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660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1F625-75E9-F24E-B3BB-9B4A61CC6252}" type="datetimeFigureOut">
              <a:rPr lang="en-US" smtClean="0"/>
              <a:t>6/18/2021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5C763-C150-5D46-AD13-E71B03814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095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1F625-75E9-F24E-B3BB-9B4A61CC6252}" type="datetimeFigureOut">
              <a:rPr lang="en-US" smtClean="0"/>
              <a:t>6/18/2021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5C763-C150-5D46-AD13-E71B03814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025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1F625-75E9-F24E-B3BB-9B4A61CC6252}" type="datetimeFigureOut">
              <a:rPr lang="en-US" smtClean="0"/>
              <a:t>6/18/2021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5C763-C150-5D46-AD13-E71B03814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82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1F625-75E9-F24E-B3BB-9B4A61CC6252}" type="datetimeFigureOut">
              <a:rPr lang="en-US" smtClean="0"/>
              <a:t>6/18/2021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5C763-C150-5D46-AD13-E71B03814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955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1F625-75E9-F24E-B3BB-9B4A61CC6252}" type="datetimeFigureOut">
              <a:rPr lang="en-US" smtClean="0"/>
              <a:t>6/18/2021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5C763-C150-5D46-AD13-E71B03814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843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1F625-75E9-F24E-B3BB-9B4A61CC6252}" type="datetimeFigureOut">
              <a:rPr lang="en-US" smtClean="0"/>
              <a:t>6/18/2021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5C763-C150-5D46-AD13-E71B03814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748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1F625-75E9-F24E-B3BB-9B4A61CC6252}" type="datetimeFigureOut">
              <a:rPr lang="en-US" smtClean="0"/>
              <a:t>6/18/2021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5C763-C150-5D46-AD13-E71B03814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768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1F625-75E9-F24E-B3BB-9B4A61CC6252}" type="datetimeFigureOut">
              <a:rPr lang="en-US" smtClean="0"/>
              <a:t>6/18/2021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5C763-C150-5D46-AD13-E71B03814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969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1F625-75E9-F24E-B3BB-9B4A61CC6252}" type="datetimeFigureOut">
              <a:rPr lang="en-US" smtClean="0"/>
              <a:t>6/18/2021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5C763-C150-5D46-AD13-E71B03814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134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1F625-75E9-F24E-B3BB-9B4A61CC6252}" type="datetimeFigureOut">
              <a:rPr lang="en-US" smtClean="0"/>
              <a:t>6/18/2021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5C763-C150-5D46-AD13-E71B03814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722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D1F625-75E9-F24E-B3BB-9B4A61CC6252}" type="datetimeFigureOut">
              <a:rPr lang="en-US" smtClean="0"/>
              <a:t>6/18/2021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65C763-C150-5D46-AD13-E71B03814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395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Home Assignment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CSCE451: OS Principles</a:t>
            </a:r>
          </a:p>
        </p:txBody>
      </p:sp>
    </p:spTree>
    <p:extLst>
      <p:ext uri="{BB962C8B-B14F-4D97-AF65-F5344CB8AC3E}">
        <p14:creationId xmlns:p14="http://schemas.microsoft.com/office/powerpoint/2010/main" val="2285496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5DF69-9578-5945-80FA-0BAC0440B883}" type="slidenum">
              <a:rPr lang="en-US"/>
              <a:pPr/>
              <a:t>2</a:t>
            </a:fld>
            <a:endParaRPr lang="en-US"/>
          </a:p>
        </p:txBody>
      </p:sp>
      <p:sp>
        <p:nvSpPr>
          <p:cNvPr id="272386" name="Rectangle 2"/>
          <p:cNvSpPr>
            <a:spLocks noGrp="1" noChangeArrowheads="1"/>
          </p:cNvSpPr>
          <p:nvPr>
            <p:ph type="title"/>
          </p:nvPr>
        </p:nvSpPr>
        <p:spPr>
          <a:xfrm>
            <a:off x="542925" y="0"/>
            <a:ext cx="7772400" cy="1143000"/>
          </a:xfrm>
        </p:spPr>
        <p:txBody>
          <a:bodyPr/>
          <a:lstStyle/>
          <a:p>
            <a:r>
              <a:rPr lang="en-US"/>
              <a:t>The Sleeping Barber Problem (1)</a:t>
            </a:r>
            <a:endParaRPr lang="en-US" sz="3200"/>
          </a:p>
        </p:txBody>
      </p:sp>
      <p:pic>
        <p:nvPicPr>
          <p:cNvPr id="272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14" t="36014" r="16373" b="26724"/>
          <a:stretch>
            <a:fillRect/>
          </a:stretch>
        </p:blipFill>
        <p:spPr bwMode="auto">
          <a:xfrm>
            <a:off x="1719263" y="1676400"/>
            <a:ext cx="6191250" cy="4984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42926" y="1118900"/>
            <a:ext cx="453726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Barber is sleeping when there is no customer.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When a customer arrives, he/she sits on a waiting chair if at least one is available. Otherwise, the customer leaves.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If the customer is the first one, he/she wakes up the barber and continues to wait.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The barber gets ready then takes a customer from the chair.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The barber cuts the customer’s hair.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The barber checks for more customers. If none, go to sleep.</a:t>
            </a:r>
          </a:p>
        </p:txBody>
      </p:sp>
    </p:spTree>
    <p:extLst>
      <p:ext uri="{BB962C8B-B14F-4D97-AF65-F5344CB8AC3E}">
        <p14:creationId xmlns:p14="http://schemas.microsoft.com/office/powerpoint/2010/main" val="153416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72387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9877E-6 9.2087E-7 L 0.22861 -0.0011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723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422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11CBA-7DFF-F244-967A-47A0FEF50D2D}" type="slidenum">
              <a:rPr lang="en-US"/>
              <a:pPr/>
              <a:t>3</a:t>
            </a:fld>
            <a:endParaRPr lang="en-US"/>
          </a:p>
        </p:txBody>
      </p:sp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828675"/>
          </a:xfrm>
        </p:spPr>
        <p:txBody>
          <a:bodyPr/>
          <a:lstStyle/>
          <a:p>
            <a:r>
              <a:rPr lang="en-US"/>
              <a:t>The Sleeping Barber Problem (2)</a:t>
            </a:r>
            <a:endParaRPr lang="en-US" sz="3200"/>
          </a:p>
        </p:txBody>
      </p:sp>
      <p:pic>
        <p:nvPicPr>
          <p:cNvPr id="273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1802" y="728505"/>
            <a:ext cx="5686425" cy="57548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8696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833377" y="1276932"/>
            <a:ext cx="1609222" cy="923330"/>
          </a:xfrm>
          <a:prstGeom prst="rect">
            <a:avLst/>
          </a:prstGeom>
          <a:noFill/>
          <a:ln>
            <a:solidFill>
              <a:srgbClr val="CC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1.</a:t>
            </a:r>
          </a:p>
          <a:p>
            <a:r>
              <a:rPr lang="en-US" b="1" dirty="0"/>
              <a:t>Barber ()</a:t>
            </a:r>
          </a:p>
          <a:p>
            <a:r>
              <a:rPr lang="en-US" dirty="0"/>
              <a:t>down(</a:t>
            </a:r>
            <a:r>
              <a:rPr lang="en-US" dirty="0" err="1"/>
              <a:t>cust</a:t>
            </a:r>
            <a:r>
              <a:rPr lang="en-US" dirty="0"/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8497" y="2226718"/>
            <a:ext cx="2005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 customer, block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3377" y="2704315"/>
            <a:ext cx="1650024" cy="2308324"/>
          </a:xfrm>
          <a:prstGeom prst="rect">
            <a:avLst/>
          </a:prstGeom>
          <a:noFill/>
          <a:ln>
            <a:solidFill>
              <a:srgbClr val="CC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2.</a:t>
            </a:r>
          </a:p>
          <a:p>
            <a:r>
              <a:rPr lang="en-US" b="1" dirty="0"/>
              <a:t>Customer1 ()</a:t>
            </a:r>
          </a:p>
          <a:p>
            <a:r>
              <a:rPr lang="en-US" dirty="0"/>
              <a:t>down(</a:t>
            </a:r>
            <a:r>
              <a:rPr lang="en-US" dirty="0" err="1"/>
              <a:t>mutex</a:t>
            </a:r>
            <a:r>
              <a:rPr lang="en-US" dirty="0"/>
              <a:t>)</a:t>
            </a:r>
          </a:p>
          <a:p>
            <a:r>
              <a:rPr lang="en-US" dirty="0"/>
              <a:t>waiting = 1</a:t>
            </a:r>
          </a:p>
          <a:p>
            <a:r>
              <a:rPr lang="en-US" dirty="0"/>
              <a:t>up(</a:t>
            </a:r>
            <a:r>
              <a:rPr lang="en-US" dirty="0" err="1"/>
              <a:t>cust</a:t>
            </a:r>
            <a:r>
              <a:rPr lang="en-US" dirty="0"/>
              <a:t>) </a:t>
            </a:r>
          </a:p>
          <a:p>
            <a:r>
              <a:rPr lang="en-US" u="sng" dirty="0"/>
              <a:t>//awake barber</a:t>
            </a:r>
          </a:p>
          <a:p>
            <a:r>
              <a:rPr lang="en-US" dirty="0"/>
              <a:t>up(</a:t>
            </a:r>
            <a:r>
              <a:rPr lang="en-US" dirty="0" err="1"/>
              <a:t>mutex</a:t>
            </a:r>
            <a:r>
              <a:rPr lang="en-US" dirty="0"/>
              <a:t>)</a:t>
            </a:r>
          </a:p>
          <a:p>
            <a:r>
              <a:rPr lang="en-US" dirty="0"/>
              <a:t>down(barber)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0465" y="5050101"/>
            <a:ext cx="1663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Block on barber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03873" y="1276932"/>
            <a:ext cx="1609222" cy="2308324"/>
          </a:xfrm>
          <a:prstGeom prst="rect">
            <a:avLst/>
          </a:prstGeom>
          <a:noFill/>
          <a:ln>
            <a:solidFill>
              <a:srgbClr val="CC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3.</a:t>
            </a:r>
          </a:p>
          <a:p>
            <a:r>
              <a:rPr lang="en-US" b="1" dirty="0"/>
              <a:t>barber ()</a:t>
            </a:r>
          </a:p>
          <a:p>
            <a:r>
              <a:rPr lang="en-US" dirty="0"/>
              <a:t>down(</a:t>
            </a:r>
            <a:r>
              <a:rPr lang="en-US" dirty="0" err="1"/>
              <a:t>mutex</a:t>
            </a:r>
            <a:r>
              <a:rPr lang="en-US" dirty="0"/>
              <a:t>)</a:t>
            </a:r>
          </a:p>
          <a:p>
            <a:r>
              <a:rPr lang="en-US" dirty="0"/>
              <a:t>waiting = 0</a:t>
            </a:r>
          </a:p>
          <a:p>
            <a:r>
              <a:rPr lang="en-US" dirty="0"/>
              <a:t>up(barber)</a:t>
            </a:r>
          </a:p>
          <a:p>
            <a:r>
              <a:rPr lang="en-US" u="sng" dirty="0"/>
              <a:t>//awake cust1</a:t>
            </a:r>
          </a:p>
          <a:p>
            <a:r>
              <a:rPr lang="en-US" dirty="0"/>
              <a:t>up(</a:t>
            </a:r>
            <a:r>
              <a:rPr lang="en-US" dirty="0" err="1"/>
              <a:t>mutex</a:t>
            </a:r>
            <a:r>
              <a:rPr lang="en-US" dirty="0"/>
              <a:t>)</a:t>
            </a:r>
          </a:p>
          <a:p>
            <a:r>
              <a:rPr lang="en-US" dirty="0" err="1"/>
              <a:t>cut_hair</a:t>
            </a:r>
            <a:r>
              <a:rPr lang="en-US" dirty="0"/>
              <a:t>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03873" y="4024033"/>
            <a:ext cx="1609222" cy="2031325"/>
          </a:xfrm>
          <a:prstGeom prst="rect">
            <a:avLst/>
          </a:prstGeom>
          <a:noFill/>
          <a:ln>
            <a:solidFill>
              <a:srgbClr val="CC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4.</a:t>
            </a:r>
          </a:p>
          <a:p>
            <a:r>
              <a:rPr lang="en-US" b="1" dirty="0"/>
              <a:t>Customer2 ()</a:t>
            </a:r>
          </a:p>
          <a:p>
            <a:r>
              <a:rPr lang="en-US" dirty="0"/>
              <a:t>down(</a:t>
            </a:r>
            <a:r>
              <a:rPr lang="en-US" dirty="0" err="1"/>
              <a:t>mutex</a:t>
            </a:r>
            <a:r>
              <a:rPr lang="en-US" dirty="0"/>
              <a:t>)</a:t>
            </a:r>
          </a:p>
          <a:p>
            <a:r>
              <a:rPr lang="en-US" dirty="0"/>
              <a:t>waiting = 1</a:t>
            </a:r>
          </a:p>
          <a:p>
            <a:r>
              <a:rPr lang="en-US" dirty="0"/>
              <a:t>up(</a:t>
            </a:r>
            <a:r>
              <a:rPr lang="en-US" dirty="0" err="1"/>
              <a:t>cust</a:t>
            </a:r>
            <a:r>
              <a:rPr lang="en-US" dirty="0"/>
              <a:t>)</a:t>
            </a:r>
          </a:p>
          <a:p>
            <a:r>
              <a:rPr lang="en-US" dirty="0"/>
              <a:t>up(</a:t>
            </a:r>
            <a:r>
              <a:rPr lang="en-US" dirty="0" err="1"/>
              <a:t>mutex</a:t>
            </a:r>
            <a:r>
              <a:rPr lang="en-US" dirty="0"/>
              <a:t>)</a:t>
            </a:r>
          </a:p>
          <a:p>
            <a:r>
              <a:rPr lang="en-US" dirty="0"/>
              <a:t>down(barber)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0645" y="3584425"/>
            <a:ext cx="1690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Out of quantum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90645" y="6023914"/>
            <a:ext cx="1663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Block on barber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1969" y="1276932"/>
            <a:ext cx="1438916" cy="1200329"/>
          </a:xfrm>
          <a:prstGeom prst="rect">
            <a:avLst/>
          </a:prstGeom>
          <a:noFill/>
          <a:ln>
            <a:solidFill>
              <a:srgbClr val="CC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5.</a:t>
            </a:r>
          </a:p>
          <a:p>
            <a:r>
              <a:rPr lang="en-US" b="1" dirty="0"/>
              <a:t>Customer1 ()</a:t>
            </a:r>
          </a:p>
          <a:p>
            <a:r>
              <a:rPr lang="en-US" dirty="0" err="1"/>
              <a:t>get_haircut</a:t>
            </a:r>
            <a:r>
              <a:rPr lang="en-US" dirty="0"/>
              <a:t>()</a:t>
            </a:r>
          </a:p>
          <a:p>
            <a:r>
              <a:rPr lang="en-US" dirty="0"/>
              <a:t>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1332" y="2461287"/>
            <a:ext cx="1690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Out of quantum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1969" y="2868602"/>
            <a:ext cx="1571689" cy="2585323"/>
          </a:xfrm>
          <a:prstGeom prst="rect">
            <a:avLst/>
          </a:prstGeom>
          <a:noFill/>
          <a:ln>
            <a:solidFill>
              <a:srgbClr val="CC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6.</a:t>
            </a:r>
          </a:p>
          <a:p>
            <a:r>
              <a:rPr lang="en-US" b="1" dirty="0"/>
              <a:t>barber ()</a:t>
            </a:r>
          </a:p>
          <a:p>
            <a:r>
              <a:rPr lang="en-US" dirty="0"/>
              <a:t>down(</a:t>
            </a:r>
            <a:r>
              <a:rPr lang="en-US" dirty="0" err="1"/>
              <a:t>cust</a:t>
            </a:r>
            <a:r>
              <a:rPr lang="en-US" dirty="0"/>
              <a:t>)</a:t>
            </a:r>
          </a:p>
          <a:p>
            <a:r>
              <a:rPr lang="en-US" dirty="0"/>
              <a:t>down(</a:t>
            </a:r>
            <a:r>
              <a:rPr lang="en-US" dirty="0" err="1"/>
              <a:t>mutex</a:t>
            </a:r>
            <a:r>
              <a:rPr lang="en-US" dirty="0"/>
              <a:t>)</a:t>
            </a:r>
          </a:p>
          <a:p>
            <a:r>
              <a:rPr lang="en-US" dirty="0"/>
              <a:t>waiting = 0</a:t>
            </a:r>
          </a:p>
          <a:p>
            <a:r>
              <a:rPr lang="en-US" dirty="0"/>
              <a:t>up(barber)</a:t>
            </a:r>
          </a:p>
          <a:p>
            <a:r>
              <a:rPr lang="en-US" b="1" dirty="0"/>
              <a:t>//awake cust2</a:t>
            </a:r>
          </a:p>
          <a:p>
            <a:r>
              <a:rPr lang="en-US" dirty="0"/>
              <a:t>up(</a:t>
            </a:r>
            <a:r>
              <a:rPr lang="en-US" dirty="0" err="1"/>
              <a:t>mutex</a:t>
            </a:r>
            <a:r>
              <a:rPr lang="en-US" dirty="0"/>
              <a:t>)</a:t>
            </a:r>
          </a:p>
          <a:p>
            <a:r>
              <a:rPr lang="en-US" dirty="0" err="1"/>
              <a:t>cut_hair</a:t>
            </a:r>
            <a:r>
              <a:rPr lang="en-US" dirty="0"/>
              <a:t>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377" y="234532"/>
            <a:ext cx="34159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#DEFINE chairs 7</a:t>
            </a:r>
          </a:p>
          <a:p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mutex</a:t>
            </a:r>
            <a:r>
              <a:rPr lang="en-US" dirty="0"/>
              <a:t> = 1, </a:t>
            </a:r>
            <a:r>
              <a:rPr lang="en-US" dirty="0" err="1"/>
              <a:t>cust</a:t>
            </a:r>
            <a:r>
              <a:rPr lang="en-US" dirty="0"/>
              <a:t> =0, barber = 0</a:t>
            </a:r>
          </a:p>
          <a:p>
            <a:r>
              <a:rPr lang="en-US" dirty="0" err="1"/>
              <a:t>int</a:t>
            </a:r>
            <a:r>
              <a:rPr lang="en-US" dirty="0"/>
              <a:t> waiting =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71332" y="5515656"/>
            <a:ext cx="1690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Out of quantum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7264" y="1276932"/>
            <a:ext cx="1438916" cy="1200329"/>
          </a:xfrm>
          <a:prstGeom prst="rect">
            <a:avLst/>
          </a:prstGeom>
          <a:noFill/>
          <a:ln>
            <a:solidFill>
              <a:srgbClr val="CC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7.</a:t>
            </a:r>
          </a:p>
          <a:p>
            <a:r>
              <a:rPr lang="en-US" b="1" dirty="0"/>
              <a:t>Customer2 ()</a:t>
            </a:r>
          </a:p>
          <a:p>
            <a:r>
              <a:rPr lang="en-US" dirty="0" err="1"/>
              <a:t>get_haircut</a:t>
            </a:r>
            <a:r>
              <a:rPr lang="en-US" dirty="0"/>
              <a:t>()</a:t>
            </a:r>
          </a:p>
          <a:p>
            <a:r>
              <a:rPr lang="en-US" dirty="0"/>
              <a:t>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07264" y="2868602"/>
            <a:ext cx="1609222" cy="1200329"/>
          </a:xfrm>
          <a:prstGeom prst="rect">
            <a:avLst/>
          </a:prstGeom>
          <a:noFill/>
          <a:ln>
            <a:solidFill>
              <a:srgbClr val="CC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8.</a:t>
            </a:r>
          </a:p>
          <a:p>
            <a:r>
              <a:rPr lang="en-US" b="1" dirty="0"/>
              <a:t>Barber ()</a:t>
            </a:r>
          </a:p>
          <a:p>
            <a:r>
              <a:rPr lang="en-US" dirty="0"/>
              <a:t>down(</a:t>
            </a:r>
            <a:r>
              <a:rPr lang="en-US" dirty="0" err="1"/>
              <a:t>cust</a:t>
            </a:r>
            <a:r>
              <a:rPr lang="en-US" dirty="0"/>
              <a:t>)</a:t>
            </a:r>
          </a:p>
          <a:p>
            <a:r>
              <a:rPr lang="en-US" dirty="0"/>
              <a:t>//back to sleep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32452" y="2499270"/>
            <a:ext cx="1690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Out of quantum</a:t>
            </a:r>
          </a:p>
        </p:txBody>
      </p:sp>
    </p:spTree>
    <p:extLst>
      <p:ext uri="{BB962C8B-B14F-4D97-AF65-F5344CB8AC3E}">
        <p14:creationId xmlns:p14="http://schemas.microsoft.com/office/powerpoint/2010/main" val="806859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/>
      <p:bldP spid="9" grpId="0" animBg="1"/>
      <p:bldP spid="10" grpId="0"/>
      <p:bldP spid="11" grpId="0" animBg="1"/>
      <p:bldP spid="13" grpId="0" animBg="1"/>
      <p:bldP spid="14" grpId="0"/>
      <p:bldP spid="15" grpId="0"/>
      <p:bldP spid="16" grpId="0" animBg="1"/>
      <p:bldP spid="17" grpId="0"/>
      <p:bldP spid="18" grpId="0" animBg="1"/>
      <p:bldP spid="19" grpId="1"/>
      <p:bldP spid="20" grpId="0"/>
      <p:bldP spid="22" grpId="0" animBg="1"/>
      <p:bldP spid="26" grpId="0" animBg="1"/>
      <p:bldP spid="2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658</TotalTime>
  <Words>298</Words>
  <Application>Microsoft Office PowerPoint</Application>
  <PresentationFormat>On-screen Show (4:3)</PresentationFormat>
  <Paragraphs>71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Home Assignment 3</vt:lpstr>
      <vt:lpstr>The Sleeping Barber Problem (1)</vt:lpstr>
      <vt:lpstr>The Sleeping Barber Problem (2)</vt:lpstr>
      <vt:lpstr>PowerPoint Presentation</vt:lpstr>
    </vt:vector>
  </TitlesOfParts>
  <Company>UNL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Concurrency: Deadlock and Starvation</dc:title>
  <dc:creator>Witawas Srisa-an</dc:creator>
  <cp:lastModifiedBy>Motassem Al-Tarazi</cp:lastModifiedBy>
  <cp:revision>42</cp:revision>
  <cp:lastPrinted>2018-10-24T19:47:13Z</cp:lastPrinted>
  <dcterms:created xsi:type="dcterms:W3CDTF">2012-10-01T04:57:53Z</dcterms:created>
  <dcterms:modified xsi:type="dcterms:W3CDTF">2021-06-18T17:07:58Z</dcterms:modified>
</cp:coreProperties>
</file>